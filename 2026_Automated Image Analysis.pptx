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3" r:id="rId3"/>
    <p:sldId id="293" r:id="rId4"/>
    <p:sldId id="294" r:id="rId5"/>
    <p:sldId id="291" r:id="rId6"/>
    <p:sldId id="299" r:id="rId7"/>
    <p:sldId id="302" r:id="rId8"/>
    <p:sldId id="304" r:id="rId9"/>
    <p:sldId id="300" r:id="rId10"/>
    <p:sldId id="301" r:id="rId11"/>
    <p:sldId id="288" r:id="rId12"/>
    <p:sldId id="284" r:id="rId13"/>
    <p:sldId id="298" r:id="rId14"/>
    <p:sldId id="303" r:id="rId15"/>
    <p:sldId id="478" r:id="rId16"/>
    <p:sldId id="305" r:id="rId17"/>
    <p:sldId id="286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9" autoAdjust="0"/>
    <p:restoredTop sz="93404" autoAdjust="0"/>
  </p:normalViewPr>
  <p:slideViewPr>
    <p:cSldViewPr snapToGrid="0">
      <p:cViewPr varScale="1">
        <p:scale>
          <a:sx n="60" d="100"/>
          <a:sy n="60" d="100"/>
        </p:scale>
        <p:origin x="94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C5F39-D70E-41E1-A5B0-BF3638D1922A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9CDCE-67A1-423F-928E-A11F518787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793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3B921-34A1-49B7-BE01-59908FCAB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571E38-5C94-48B7-91A9-AA82C2468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B1C1E2-BA3A-4D99-850A-71FAD106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874AD9-FC78-478F-A2D3-66885793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874C8B-AACF-4257-80C9-6BC39C9D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76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453F37-E03F-4F26-9FB8-429D5949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6BDBD5-3288-4208-A1D5-FAD1518F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D3B2AF-EE06-40AC-BE19-98805744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07BA07-91E8-41ED-8002-03912541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A67AED-A9DA-4919-A1EF-E5B3A3422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149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0CA2E-E712-4F21-A581-1BC7051F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58A8A8-28D7-49B1-AFC5-35B28C1E0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6EF485-020D-44A9-9710-F1FA7750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1ECF82-6C6E-438B-8865-8B8243E67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FDA4EE-7E69-4878-B1A9-147E6AEB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937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CCBA0D-3DAF-4C82-91AF-8BFC9923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9CE3AD-D86E-4BBC-8804-B32545EC8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E7B61F-D27B-464F-B931-D8E0645D2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AAEC03-3CF8-41D5-A7E8-364DD351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8F10F9-8DBF-4A6F-9EDA-15E42814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E120C4-62FA-4229-BD89-93E5D80D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090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A9C50-451E-4047-9F3E-145C9F16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089651-EF44-4C22-910D-E5F3CE17D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C2B527-048C-46D4-AA77-7EF31FC51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F17802-4C60-44FF-93F4-06FB59FC3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CABB44-60CA-491B-A1A1-8598CB1AA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F286028-7564-4CA1-BEA5-62FAC60F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115AF4-C501-4CDC-AA39-24AE3819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897350C-341B-4C20-A359-099F781B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75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C91A9D-2BB1-49B1-AE50-E40B9BEA2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642F20-DF9C-42D0-B11A-240CF617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A2D9F8-8E6C-4EDF-AD62-4518FE0D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D6D154-159C-4B2A-9CA4-057E0997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105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11D70A-4858-4282-A3B9-86C7C2B0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1703AA7-7753-42D0-893B-3FCE6B98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EE9EFE-24D1-4322-A392-B5EA9256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824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D5269-A24C-461E-B2F1-CBCDAD1F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CA1FEE-FC4D-4D6D-B5A9-7E86B5BB5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FE133D-5518-4121-B95A-C618C517F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A76F1F-65A1-4EAC-870E-79CD4274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081266-5609-41BD-9671-DDB43EB4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52A263-504D-422B-B113-785687A5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792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A7C07-70AF-485E-8A19-54B26CED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0451856-22D6-43E6-8219-691613F0C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528647-A407-4DDF-A7BE-314338649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4F3DDE-E48D-4D93-A952-3FDA3169B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C7920F-CBA1-4086-A744-578A1109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2F5632-CEC1-44EB-87BF-F7BFD57E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33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A0A39-47D0-4A93-8ED8-2048488F3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744197-2980-43AA-ABE2-A106FE791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B042C4-D738-421F-8AF5-93A2D5C7B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AD2AC5-2417-413C-8C63-84B53D83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D03045-DEC6-49C3-98AF-B0B1F4C9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834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19E85A7-6528-453A-8051-9AAB4E2BF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E5EE7F-3AED-4C07-A111-5D4197815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9F1C77-9B28-4547-9F24-4CBD989E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1CA659-4CCA-49BB-A1B7-713B6835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5891CD-03E9-4F9D-A2BE-8E133492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204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A9FDD5F-87B9-4911-810E-96659DAD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946241-DAE8-4522-8FE8-0CE2512AF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D47490-97E8-4E46-992C-2D50045FA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69F7F-730B-45D3-B3BC-746A77355561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9EC66D-F8BE-4507-A974-B33B8B311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44DA5-98CF-4BD7-BB58-E923440B5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416DA-14F1-4A23-90B8-E751D17E4B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870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6D783-8C6B-4552-883D-FF9D4B69D5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displaying &amp;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automatically analysing images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F9CEA-B6D8-48A9-A6B0-B84013BD9EDA}"/>
              </a:ext>
            </a:extLst>
          </p:cNvPr>
          <p:cNvSpPr/>
          <p:nvPr/>
        </p:nvSpPr>
        <p:spPr>
          <a:xfrm>
            <a:off x="2177333" y="4598459"/>
            <a:ext cx="90620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https://github.com/FilLieb/NBCimageAnalysis</a:t>
            </a:r>
          </a:p>
        </p:txBody>
      </p:sp>
    </p:spTree>
    <p:extLst>
      <p:ext uri="{BB962C8B-B14F-4D97-AF65-F5344CB8AC3E}">
        <p14:creationId xmlns:p14="http://schemas.microsoft.com/office/powerpoint/2010/main" val="223334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20F4B87-7219-46C1-B3CE-84FAFDCDB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3337"/>
            <a:ext cx="12192000" cy="447132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99CF712-E165-44CE-9BFB-2838544B2516}"/>
              </a:ext>
            </a:extLst>
          </p:cNvPr>
          <p:cNvSpPr txBox="1"/>
          <p:nvPr/>
        </p:nvSpPr>
        <p:spPr>
          <a:xfrm>
            <a:off x="182880" y="6400800"/>
            <a:ext cx="2522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Gonzales &amp; Woods, 2018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2373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B7F1-F6B9-47C5-B373-E9213652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pixel image (gray scale)</a:t>
            </a:r>
          </a:p>
        </p:txBody>
      </p:sp>
      <p:pic>
        <p:nvPicPr>
          <p:cNvPr id="1026" name="Picture 2" descr="When to Use Contrast as a Preprocessing Step">
            <a:extLst>
              <a:ext uri="{FF2B5EF4-FFF2-40B4-BE49-F238E27FC236}">
                <a16:creationId xmlns:a16="http://schemas.microsoft.com/office/drawing/2014/main" id="{CA83FA35-FA69-40CA-9769-A3853E145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80"/>
          <a:stretch/>
        </p:blipFill>
        <p:spPr bwMode="auto">
          <a:xfrm>
            <a:off x="551121" y="2118569"/>
            <a:ext cx="2851298" cy="425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263B87FD-9D1E-4124-9F2B-BDD952757D21}"/>
              </a:ext>
            </a:extLst>
          </p:cNvPr>
          <p:cNvSpPr txBox="1">
            <a:spLocks/>
          </p:cNvSpPr>
          <p:nvPr/>
        </p:nvSpPr>
        <p:spPr>
          <a:xfrm>
            <a:off x="7164572" y="1638806"/>
            <a:ext cx="47350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8-bit vs. 16-bit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BD5A924-DBA5-417A-91FE-FBF48BF4E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261" y="2758191"/>
            <a:ext cx="5584371" cy="1191041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e-DE" baseline="30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= 256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values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0-255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de-DE" baseline="30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16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= 65,536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values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0-65,535</a:t>
            </a:r>
            <a:endParaRPr lang="en-CA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3">
            <a:extLst>
              <a:ext uri="{FF2B5EF4-FFF2-40B4-BE49-F238E27FC236}">
                <a16:creationId xmlns:a16="http://schemas.microsoft.com/office/drawing/2014/main" id="{94648ACB-7128-4411-BA39-23933C8F52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414" t="5515" r="36982" b="34310"/>
          <a:stretch/>
        </p:blipFill>
        <p:spPr>
          <a:xfrm>
            <a:off x="3584028" y="2008388"/>
            <a:ext cx="2511972" cy="2690649"/>
          </a:xfrm>
          <a:prstGeom prst="rect">
            <a:avLst/>
          </a:prstGeom>
        </p:spPr>
      </p:pic>
      <p:pic>
        <p:nvPicPr>
          <p:cNvPr id="1028" name="Picture 4" descr="Understanding Digital Camera Histograms: Tones and Contrast">
            <a:extLst>
              <a:ext uri="{FF2B5EF4-FFF2-40B4-BE49-F238E27FC236}">
                <a16:creationId xmlns:a16="http://schemas.microsoft.com/office/drawing/2014/main" id="{86D5BED8-F249-4965-B048-2CEB2DA18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644" y="4469214"/>
            <a:ext cx="3935878" cy="21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07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B7F1-F6B9-47C5-B373-E9213652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contrast</a:t>
            </a:r>
          </a:p>
        </p:txBody>
      </p:sp>
      <p:pic>
        <p:nvPicPr>
          <p:cNvPr id="1026" name="Picture 2" descr="When to Use Contrast as a Preprocessing Step">
            <a:extLst>
              <a:ext uri="{FF2B5EF4-FFF2-40B4-BE49-F238E27FC236}">
                <a16:creationId xmlns:a16="http://schemas.microsoft.com/office/drawing/2014/main" id="{CA83FA35-FA69-40CA-9769-A3853E145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90978"/>
            <a:ext cx="5700376" cy="425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Understanding Digital Camera Histograms: Tones and Contrast">
            <a:extLst>
              <a:ext uri="{FF2B5EF4-FFF2-40B4-BE49-F238E27FC236}">
                <a16:creationId xmlns:a16="http://schemas.microsoft.com/office/drawing/2014/main" id="{D58124E8-0950-419A-A870-083A66F6D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922" y="2619149"/>
            <a:ext cx="3935878" cy="21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8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7E29E0-8A9D-CAD0-DB31-7474BCB73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247" y="947610"/>
            <a:ext cx="6915505" cy="4962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38E530-1668-28AB-A49E-8953E49B84EB}"/>
              </a:ext>
            </a:extLst>
          </p:cNvPr>
          <p:cNvSpPr txBox="1"/>
          <p:nvPr/>
        </p:nvSpPr>
        <p:spPr>
          <a:xfrm>
            <a:off x="3847844" y="153429"/>
            <a:ext cx="8691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latin typeface="Arial" panose="020B0604020202020204" pitchFamily="34" charset="0"/>
                <a:cs typeface="Arial" panose="020B0604020202020204" pitchFamily="34" charset="0"/>
              </a:rPr>
              <a:t>wt</a:t>
            </a:r>
            <a:endParaRPr lang="en-DE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7AAF0-9E5E-5AAD-A6E9-18B409177E5A}"/>
              </a:ext>
            </a:extLst>
          </p:cNvPr>
          <p:cNvSpPr txBox="1"/>
          <p:nvPr/>
        </p:nvSpPr>
        <p:spPr>
          <a:xfrm>
            <a:off x="6793107" y="153429"/>
            <a:ext cx="2206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latin typeface="Arial" panose="020B0604020202020204" pitchFamily="34" charset="0"/>
                <a:cs typeface="Arial" panose="020B0604020202020204" pitchFamily="34" charset="0"/>
              </a:rPr>
              <a:t>variant</a:t>
            </a:r>
            <a:endParaRPr lang="en-DE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D7C3C-DFDB-6A1B-E3E8-CFD2A6FD8F97}"/>
              </a:ext>
            </a:extLst>
          </p:cNvPr>
          <p:cNvSpPr txBox="1"/>
          <p:nvPr/>
        </p:nvSpPr>
        <p:spPr>
          <a:xfrm rot="16200000">
            <a:off x="622873" y="2356489"/>
            <a:ext cx="3340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mScarlet-gephyrin</a:t>
            </a:r>
            <a:endParaRPr lang="en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00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D8C1-983E-2518-8627-A8095000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Recap: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OMERO | Open Microscopy Environment (OME)">
            <a:extLst>
              <a:ext uri="{FF2B5EF4-FFF2-40B4-BE49-F238E27FC236}">
                <a16:creationId xmlns:a16="http://schemas.microsoft.com/office/drawing/2014/main" id="{56CDD4A2-9339-6AAB-57AA-382F948EF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463" y="365125"/>
            <a:ext cx="5114925" cy="8953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693139-B38F-70BB-7FA4-E23E47F214B4}"/>
              </a:ext>
            </a:extLst>
          </p:cNvPr>
          <p:cNvSpPr/>
          <p:nvPr/>
        </p:nvSpPr>
        <p:spPr>
          <a:xfrm>
            <a:off x="2051086" y="1613407"/>
            <a:ext cx="76979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github.com/FilLieb/NBCimageAnalysis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64F4E4-C9D7-8B50-0BA4-3A4DCDF8A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53" y="2671333"/>
            <a:ext cx="5451534" cy="34308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97DB4A-10CB-201F-C93C-12865946F02C}"/>
              </a:ext>
            </a:extLst>
          </p:cNvPr>
          <p:cNvSpPr txBox="1"/>
          <p:nvPr/>
        </p:nvSpPr>
        <p:spPr>
          <a:xfrm>
            <a:off x="221601" y="6308209"/>
            <a:ext cx="8847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55595C"/>
                </a:solidFill>
                <a:effectLst/>
                <a:latin typeface="Nunito Sans" panose="020F0502020204030204" pitchFamily="2" charset="0"/>
              </a:rPr>
              <a:t>Helena Jambor</a:t>
            </a:r>
          </a:p>
        </p:txBody>
      </p:sp>
      <p:pic>
        <p:nvPicPr>
          <p:cNvPr id="15" name="Picture 14" descr="What is Color Blindness: Everything You Want to Know">
            <a:extLst>
              <a:ext uri="{FF2B5EF4-FFF2-40B4-BE49-F238E27FC236}">
                <a16:creationId xmlns:a16="http://schemas.microsoft.com/office/drawing/2014/main" id="{1099836D-0D53-8353-1BBD-CF67D8075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454" y="2463493"/>
            <a:ext cx="4252753" cy="36148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6C8F33-361B-E99A-A391-99F14DCACF8B}"/>
              </a:ext>
            </a:extLst>
          </p:cNvPr>
          <p:cNvSpPr txBox="1"/>
          <p:nvPr/>
        </p:nvSpPr>
        <p:spPr>
          <a:xfrm>
            <a:off x="7640035" y="584750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Deuteranomaly </a:t>
            </a:r>
          </a:p>
          <a:p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(green-weak)</a:t>
            </a:r>
            <a:endParaRPr lang="en-DE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53D1AC-D990-9684-9829-6C0FBFEFF5EB}"/>
              </a:ext>
            </a:extLst>
          </p:cNvPr>
          <p:cNvSpPr txBox="1"/>
          <p:nvPr/>
        </p:nvSpPr>
        <p:spPr>
          <a:xfrm>
            <a:off x="9999480" y="5847500"/>
            <a:ext cx="6871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Protanomaly </a:t>
            </a:r>
          </a:p>
          <a:p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(red-weak)</a:t>
            </a:r>
            <a:endParaRPr lang="en-DE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BF8153-48A3-5146-824F-D6B900881CBB}"/>
              </a:ext>
            </a:extLst>
          </p:cNvPr>
          <p:cNvSpPr txBox="1"/>
          <p:nvPr/>
        </p:nvSpPr>
        <p:spPr>
          <a:xfrm>
            <a:off x="8830430" y="5847500"/>
            <a:ext cx="6871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(blue-yellow)</a:t>
            </a:r>
          </a:p>
          <a:p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rare</a:t>
            </a:r>
            <a:endParaRPr lang="en-DE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79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3F6A17-5497-C204-AC86-86322A43E02D}"/>
              </a:ext>
            </a:extLst>
          </p:cNvPr>
          <p:cNvSpPr txBox="1"/>
          <p:nvPr/>
        </p:nvSpPr>
        <p:spPr>
          <a:xfrm>
            <a:off x="2292999" y="3972970"/>
            <a:ext cx="8217314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200" b="1" u="sng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DE" dirty="0"/>
              <a:t>https://imagej.net/software/fiji/downloads</a:t>
            </a:r>
          </a:p>
        </p:txBody>
      </p:sp>
      <p:pic>
        <p:nvPicPr>
          <p:cNvPr id="10" name="Picture 9" descr="Fiji Downloads">
            <a:extLst>
              <a:ext uri="{FF2B5EF4-FFF2-40B4-BE49-F238E27FC236}">
                <a16:creationId xmlns:a16="http://schemas.microsoft.com/office/drawing/2014/main" id="{90D34047-700C-2587-6A25-C33948081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146" y="1442687"/>
            <a:ext cx="2395346" cy="239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5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85FE4C-600E-1300-2EF9-E6751E1CF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003" y="2006520"/>
            <a:ext cx="2514253" cy="2733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9F018B-2F66-3449-E6B9-4C7F1CB5E80B}"/>
              </a:ext>
            </a:extLst>
          </p:cNvPr>
          <p:cNvSpPr txBox="1"/>
          <p:nvPr/>
        </p:nvSpPr>
        <p:spPr>
          <a:xfrm>
            <a:off x="1817137" y="5005873"/>
            <a:ext cx="8847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55595C"/>
                </a:solidFill>
                <a:effectLst/>
                <a:latin typeface="Nunito Sans" panose="020F0502020204030204" pitchFamily="2" charset="0"/>
              </a:rPr>
              <a:t>Image -&gt; Color -&gt; Stack to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26C84-922E-63C9-9133-78FDADB165EC}"/>
              </a:ext>
            </a:extLst>
          </p:cNvPr>
          <p:cNvSpPr txBox="1"/>
          <p:nvPr/>
        </p:nvSpPr>
        <p:spPr>
          <a:xfrm>
            <a:off x="6019023" y="5005873"/>
            <a:ext cx="8847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55595C"/>
                </a:solidFill>
                <a:effectLst/>
                <a:latin typeface="Nunito Sans" panose="020F0502020204030204" pitchFamily="2" charset="0"/>
              </a:rPr>
              <a:t>Image -&gt; Color -&gt; Simulate Color Blindness (no red)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8908E6-D5DE-AA09-0365-5EF84D8E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220" y="2006520"/>
            <a:ext cx="2540393" cy="2732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D30038-504F-DAAD-494E-2432507421BB}"/>
              </a:ext>
            </a:extLst>
          </p:cNvPr>
          <p:cNvSpPr txBox="1"/>
          <p:nvPr/>
        </p:nvSpPr>
        <p:spPr>
          <a:xfrm>
            <a:off x="219660" y="1482795"/>
            <a:ext cx="8847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55595C"/>
                </a:solidFill>
                <a:effectLst/>
                <a:latin typeface="Nunito Sans" panose="020F0502020204030204" pitchFamily="2" charset="0"/>
              </a:rPr>
              <a:t>Image -&gt; Duplicate (Ctrl + Shift +D)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3FF863-C83F-D582-7AE4-5B3DE371AEFD}"/>
              </a:ext>
            </a:extLst>
          </p:cNvPr>
          <p:cNvSpPr txBox="1"/>
          <p:nvPr/>
        </p:nvSpPr>
        <p:spPr>
          <a:xfrm>
            <a:off x="9539774" y="6333535"/>
            <a:ext cx="8847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55595C"/>
                </a:solidFill>
                <a:effectLst/>
                <a:latin typeface="Nunito Sans" panose="020F0502020204030204" pitchFamily="2" charset="0"/>
              </a:rPr>
              <a:t>…little script (Macro)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F9A6A-F403-9480-8C9C-245D86A415C7}"/>
              </a:ext>
            </a:extLst>
          </p:cNvPr>
          <p:cNvSpPr txBox="1"/>
          <p:nvPr/>
        </p:nvSpPr>
        <p:spPr>
          <a:xfrm>
            <a:off x="219660" y="5641038"/>
            <a:ext cx="942022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Recommended 4-Color Combinations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Magenta / Yellow / Green / Blue</a:t>
            </a:r>
            <a:r>
              <a:rPr lang="en-US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Magenta / Yellow / Cyan / Blue</a:t>
            </a:r>
            <a:r>
              <a:rPr lang="en-US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257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3F6FE-921C-459F-264A-0B1877CF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auutomated image analysis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F7D0-AC42-A93F-4B2B-B9180FC04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image segmentation</a:t>
            </a:r>
          </a:p>
          <a:p>
            <a:pPr marL="514350" indent="-514350">
              <a:buAutoNum type="arabicParenR"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2) quantitative analysis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FA5DF-540E-4A7B-9962-4E8B2C4C5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759" y="2302799"/>
            <a:ext cx="7176479" cy="1849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9DB752-9FAC-D65D-840E-F44BAAA96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59" y="4915270"/>
            <a:ext cx="7075061" cy="185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7CBB89-4D4C-0DC4-869E-6817612B55A0}"/>
              </a:ext>
            </a:extLst>
          </p:cNvPr>
          <p:cNvSpPr txBox="1"/>
          <p:nvPr/>
        </p:nvSpPr>
        <p:spPr>
          <a:xfrm>
            <a:off x="81643" y="637387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0" dirty="0">
                <a:solidFill>
                  <a:srgbClr val="222832"/>
                </a:solidFill>
                <a:effectLst/>
                <a:latin typeface="-apple-system"/>
              </a:rPr>
              <a:t>Pete Bankhead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4985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D169-EBCD-9B4B-4B28-F0E9C396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2E442E-A1AD-D73D-C4CD-B2F3523354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16"/>
          <a:stretch/>
        </p:blipFill>
        <p:spPr bwMode="auto">
          <a:xfrm>
            <a:off x="4572000" y="2491969"/>
            <a:ext cx="3048000" cy="815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D97A6-3944-6321-3FFD-6165BF712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73" y="2124840"/>
            <a:ext cx="3673136" cy="24487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851BCA-A1C4-7EED-326A-4EF6820EE36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813" y="4279990"/>
            <a:ext cx="3673136" cy="244875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A68A4BD-BA81-1FD5-C28D-022A78D81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1) segmentation: make a binary image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F754BB-FF92-735B-AA82-492955A97EBF}"/>
              </a:ext>
            </a:extLst>
          </p:cNvPr>
          <p:cNvGraphicFramePr>
            <a:graphicFrameLocks noGrp="1"/>
          </p:cNvGraphicFramePr>
          <p:nvPr/>
        </p:nvGraphicFramePr>
        <p:xfrm>
          <a:off x="10301490" y="5122556"/>
          <a:ext cx="846212" cy="1022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06">
                  <a:extLst>
                    <a:ext uri="{9D8B030D-6E8A-4147-A177-3AD203B41FA5}">
                      <a16:colId xmlns:a16="http://schemas.microsoft.com/office/drawing/2014/main" val="1713106663"/>
                    </a:ext>
                  </a:extLst>
                </a:gridCol>
                <a:gridCol w="423106">
                  <a:extLst>
                    <a:ext uri="{9D8B030D-6E8A-4147-A177-3AD203B41FA5}">
                      <a16:colId xmlns:a16="http://schemas.microsoft.com/office/drawing/2014/main" val="1488718927"/>
                    </a:ext>
                  </a:extLst>
                </a:gridCol>
              </a:tblGrid>
              <a:tr h="1022509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166431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73A512B-15D1-FC58-1919-0241101116E5}"/>
              </a:ext>
            </a:extLst>
          </p:cNvPr>
          <p:cNvCxnSpPr/>
          <p:nvPr/>
        </p:nvCxnSpPr>
        <p:spPr>
          <a:xfrm>
            <a:off x="4860435" y="4228333"/>
            <a:ext cx="601417" cy="3452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116156-986B-A280-1781-553D81B2DF8D}"/>
              </a:ext>
            </a:extLst>
          </p:cNvPr>
          <p:cNvCxnSpPr/>
          <p:nvPr/>
        </p:nvCxnSpPr>
        <p:spPr>
          <a:xfrm>
            <a:off x="5018972" y="4644624"/>
            <a:ext cx="601417" cy="3452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160FD0-9ED9-D4BA-3E9F-5F9AD355E0A1}"/>
              </a:ext>
            </a:extLst>
          </p:cNvPr>
          <p:cNvCxnSpPr/>
          <p:nvPr/>
        </p:nvCxnSpPr>
        <p:spPr>
          <a:xfrm>
            <a:off x="5171372" y="5024093"/>
            <a:ext cx="601417" cy="3452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E00922-F81C-CEA0-F25E-A1F8EDD7CE65}"/>
              </a:ext>
            </a:extLst>
          </p:cNvPr>
          <p:cNvCxnSpPr/>
          <p:nvPr/>
        </p:nvCxnSpPr>
        <p:spPr>
          <a:xfrm>
            <a:off x="5323772" y="5409699"/>
            <a:ext cx="601417" cy="3452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30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6">
            <a:extLst>
              <a:ext uri="{FF2B5EF4-FFF2-40B4-BE49-F238E27FC236}">
                <a16:creationId xmlns:a16="http://schemas.microsoft.com/office/drawing/2014/main" id="{BB1C4ECD-5B4C-6868-80BD-3169AF812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468" y="1520084"/>
            <a:ext cx="2985528" cy="3015128"/>
          </a:xfrm>
          <a:prstGeom prst="rect">
            <a:avLst/>
          </a:prstGeom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A91422C-3542-5A0F-858A-4C70ECA69D5D}"/>
              </a:ext>
            </a:extLst>
          </p:cNvPr>
          <p:cNvCxnSpPr>
            <a:cxnSpLocks/>
          </p:cNvCxnSpPr>
          <p:nvPr/>
        </p:nvCxnSpPr>
        <p:spPr>
          <a:xfrm rot="10800000">
            <a:off x="2098824" y="2295205"/>
            <a:ext cx="2559644" cy="720169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0783753-659C-C104-DE40-CD0D3A5743E5}"/>
              </a:ext>
            </a:extLst>
          </p:cNvPr>
          <p:cNvCxnSpPr>
            <a:cxnSpLocks/>
          </p:cNvCxnSpPr>
          <p:nvPr/>
        </p:nvCxnSpPr>
        <p:spPr>
          <a:xfrm flipV="1">
            <a:off x="7642697" y="2356574"/>
            <a:ext cx="2211886" cy="671074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4B000A3-D799-AE90-118B-1896FD5461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35746" y="4695468"/>
            <a:ext cx="1324447" cy="1003938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4A87B8-6A7F-B03C-51CD-3C3B04D40C28}"/>
              </a:ext>
            </a:extLst>
          </p:cNvPr>
          <p:cNvSpPr txBox="1"/>
          <p:nvPr/>
        </p:nvSpPr>
        <p:spPr>
          <a:xfrm>
            <a:off x="681448" y="1902442"/>
            <a:ext cx="1417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#/µm</a:t>
            </a:r>
            <a:r>
              <a:rPr lang="de-DE" sz="3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DE" sz="36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225FBB-8C44-242B-B15C-46AD2750AB9B}"/>
              </a:ext>
            </a:extLst>
          </p:cNvPr>
          <p:cNvSpPr txBox="1"/>
          <p:nvPr/>
        </p:nvSpPr>
        <p:spPr>
          <a:xfrm>
            <a:off x="10002396" y="2021234"/>
            <a:ext cx="1920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% vGAT</a:t>
            </a:r>
            <a:endParaRPr lang="en-DE" sz="36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44F5A5-DC74-2C69-34A8-DF582672C274}"/>
              </a:ext>
            </a:extLst>
          </p:cNvPr>
          <p:cNvSpPr txBox="1"/>
          <p:nvPr/>
        </p:nvSpPr>
        <p:spPr>
          <a:xfrm>
            <a:off x="5232992" y="5859660"/>
            <a:ext cx="3982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cluster size [µm</a:t>
            </a:r>
            <a:r>
              <a:rPr lang="de-DE" sz="3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DE" sz="36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DC593-7BE4-5349-6B47-89D3E753A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2) quantitative analysis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26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DCBB56A-4A4B-4C4B-AD46-E9CF6752D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447800"/>
            <a:ext cx="11106150" cy="39624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25571A5-042B-42DD-88C5-9400287E2625}"/>
              </a:ext>
            </a:extLst>
          </p:cNvPr>
          <p:cNvSpPr txBox="1"/>
          <p:nvPr/>
        </p:nvSpPr>
        <p:spPr>
          <a:xfrm>
            <a:off x="182880" y="6400800"/>
            <a:ext cx="3843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Peter Zentis, CECAD Imaging Workshop</a:t>
            </a:r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4E436-5F98-A2DB-0FCF-6E8FD04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segmentation: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885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4008-F30B-5FAA-F62C-8B25C910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filters, e.g. gaussian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87686B-F906-957E-2747-51FF53424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002" y="3056532"/>
            <a:ext cx="5278565" cy="194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AB642D-3442-0BF0-31A6-2EAC5B69E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93" y="2214921"/>
            <a:ext cx="4218530" cy="372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67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8DC5DD-1C89-C4A5-42D7-4E1493B54CDC}"/>
              </a:ext>
            </a:extLst>
          </p:cNvPr>
          <p:cNvSpPr txBox="1"/>
          <p:nvPr/>
        </p:nvSpPr>
        <p:spPr>
          <a:xfrm>
            <a:off x="81643" y="637387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0" dirty="0">
                <a:solidFill>
                  <a:srgbClr val="222832"/>
                </a:solidFill>
                <a:effectLst/>
                <a:latin typeface="-apple-system"/>
              </a:rPr>
              <a:t>Pete Bankhead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06EA3F-1D31-777B-33CD-BEA35BB5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30" y="1250715"/>
            <a:ext cx="8878534" cy="530782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E48BA8C-07CD-B381-CF9B-CAA5DFCE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filters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results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581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circles in a black background&#10;&#10;AI-generated content may be incorrect.">
            <a:extLst>
              <a:ext uri="{FF2B5EF4-FFF2-40B4-BE49-F238E27FC236}">
                <a16:creationId xmlns:a16="http://schemas.microsoft.com/office/drawing/2014/main" id="{FC506954-CD70-2D2E-27BB-A1BBB611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565"/>
          <a:stretch>
            <a:fillRect/>
          </a:stretch>
        </p:blipFill>
        <p:spPr>
          <a:xfrm>
            <a:off x="237328" y="4436056"/>
            <a:ext cx="3389011" cy="2293711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C0DFC2E6-19C4-6895-D25C-BD0C7B0BD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9521" y="4119306"/>
            <a:ext cx="174421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DE" dirty="0">
                <a:solidFill>
                  <a:srgbClr val="000000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training</a:t>
            </a:r>
            <a:endParaRPr kumimoji="0" lang="en-DE" altLang="en-DE" sz="4400" b="0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10959F-24DA-34AC-468E-8F57A1031797}"/>
              </a:ext>
            </a:extLst>
          </p:cNvPr>
          <p:cNvCxnSpPr/>
          <p:nvPr/>
        </p:nvCxnSpPr>
        <p:spPr>
          <a:xfrm>
            <a:off x="3195273" y="5803129"/>
            <a:ext cx="692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">
            <a:extLst>
              <a:ext uri="{FF2B5EF4-FFF2-40B4-BE49-F238E27FC236}">
                <a16:creationId xmlns:a16="http://schemas.microsoft.com/office/drawing/2014/main" id="{BBCA79C0-0CB8-71F4-87DC-DAA451696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101" y="5664629"/>
            <a:ext cx="174421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DE" dirty="0">
                <a:solidFill>
                  <a:srgbClr val="000000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cluster</a:t>
            </a:r>
            <a:endParaRPr kumimoji="0" lang="en-DE" altLang="en-DE" sz="4400" b="0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E5D3BB-FC7B-740C-8639-93124007CA56}"/>
              </a:ext>
            </a:extLst>
          </p:cNvPr>
          <p:cNvCxnSpPr>
            <a:cxnSpLocks/>
          </p:cNvCxnSpPr>
          <p:nvPr/>
        </p:nvCxnSpPr>
        <p:spPr>
          <a:xfrm flipV="1">
            <a:off x="1753664" y="4013865"/>
            <a:ext cx="1441609" cy="907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A3A77B-75E6-4EDC-EF12-68A623BA4C3D}"/>
              </a:ext>
            </a:extLst>
          </p:cNvPr>
          <p:cNvCxnSpPr>
            <a:cxnSpLocks/>
          </p:cNvCxnSpPr>
          <p:nvPr/>
        </p:nvCxnSpPr>
        <p:spPr>
          <a:xfrm flipV="1">
            <a:off x="3195273" y="4013865"/>
            <a:ext cx="83128" cy="981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">
            <a:extLst>
              <a:ext uri="{FF2B5EF4-FFF2-40B4-BE49-F238E27FC236}">
                <a16:creationId xmlns:a16="http://schemas.microsoft.com/office/drawing/2014/main" id="{478F3399-9357-E67C-BD42-A59CE6B80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4730" y="3716990"/>
            <a:ext cx="174421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DE" dirty="0">
                <a:solidFill>
                  <a:srgbClr val="000000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background</a:t>
            </a:r>
            <a:endParaRPr kumimoji="0" lang="en-DE" altLang="en-DE" sz="4400" b="0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713A7FB-4558-6492-F971-1DD1B1EE9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42" y="1439546"/>
            <a:ext cx="4565018" cy="304749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EDCFE1D-0553-BB26-39D0-3E8F925E7401}"/>
              </a:ext>
            </a:extLst>
          </p:cNvPr>
          <p:cNvSpPr/>
          <p:nvPr/>
        </p:nvSpPr>
        <p:spPr>
          <a:xfrm>
            <a:off x="10297719" y="1332566"/>
            <a:ext cx="1923473" cy="162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F40564-4D3B-0603-DC4E-E68A1091F0B1}"/>
              </a:ext>
            </a:extLst>
          </p:cNvPr>
          <p:cNvSpPr/>
          <p:nvPr/>
        </p:nvSpPr>
        <p:spPr>
          <a:xfrm>
            <a:off x="6866403" y="1337183"/>
            <a:ext cx="1923473" cy="162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EF5BACE-F663-ED32-3087-559DAF19D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702" y="1268433"/>
            <a:ext cx="3189682" cy="32442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BF8C9F0-5598-23B2-573A-0133B6000AEE}"/>
              </a:ext>
            </a:extLst>
          </p:cNvPr>
          <p:cNvSpPr txBox="1"/>
          <p:nvPr/>
        </p:nvSpPr>
        <p:spPr>
          <a:xfrm>
            <a:off x="3991101" y="4456514"/>
            <a:ext cx="46691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0" i="0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Copyright © 2025 Humboldt-Universität zu Berlin. Department of Geography.</a:t>
            </a:r>
            <a:endParaRPr lang="en-DE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A72AC-B1D9-457C-AECA-11035CEED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automated analysis (Random Forest)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FD4ABC-6305-9507-8C22-51489D18B5AB}"/>
              </a:ext>
            </a:extLst>
          </p:cNvPr>
          <p:cNvSpPr/>
          <p:nvPr/>
        </p:nvSpPr>
        <p:spPr>
          <a:xfrm>
            <a:off x="4273420" y="3675442"/>
            <a:ext cx="2626890" cy="799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59231-65EC-9523-2AE8-2E9569222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405" y="1869380"/>
            <a:ext cx="174421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DE" dirty="0">
                <a:solidFill>
                  <a:srgbClr val="000000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“new pixel”</a:t>
            </a:r>
            <a:endParaRPr kumimoji="0" lang="en-DE" altLang="en-DE" sz="4400" b="0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685FFE69-2A46-E0E6-77FE-DB1AF2A1334E}"/>
              </a:ext>
            </a:extLst>
          </p:cNvPr>
          <p:cNvCxnSpPr/>
          <p:nvPr/>
        </p:nvCxnSpPr>
        <p:spPr>
          <a:xfrm>
            <a:off x="2743200" y="2024743"/>
            <a:ext cx="1247901" cy="11070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10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8" grpId="0" animBg="1"/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04A66-F66A-E403-794F-C78480E3F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decision trees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B03F9-D4E9-8658-EA3E-8692E9614B40}"/>
              </a:ext>
            </a:extLst>
          </p:cNvPr>
          <p:cNvSpPr txBox="1"/>
          <p:nvPr/>
        </p:nvSpPr>
        <p:spPr>
          <a:xfrm>
            <a:off x="645042" y="3429000"/>
            <a:ext cx="11546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3600" b="1" dirty="0"/>
              <a:t>https://www.youtube.com/watch?v=_L39rN6gz7Y&amp;t=40s</a:t>
            </a:r>
          </a:p>
        </p:txBody>
      </p:sp>
    </p:spTree>
    <p:extLst>
      <p:ext uri="{BB962C8B-B14F-4D97-AF65-F5344CB8AC3E}">
        <p14:creationId xmlns:p14="http://schemas.microsoft.com/office/powerpoint/2010/main" val="2617487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C78E-9B17-5AE1-2E48-EBFF3E96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2680138" y="2911365"/>
            <a:ext cx="1545020" cy="101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split</a:t>
            </a:r>
            <a:r>
              <a:rPr lang="de-DE" dirty="0"/>
              <a:t> </a:t>
            </a:r>
            <a:r>
              <a:rPr lang="de-DE" dirty="0" err="1"/>
              <a:t>channels</a:t>
            </a:r>
            <a:endParaRPr lang="en-CA" dirty="0"/>
          </a:p>
        </p:txBody>
      </p:sp>
      <p:cxnSp>
        <p:nvCxnSpPr>
          <p:cNvPr id="5" name="Gewinkelter Verbinder 4"/>
          <p:cNvCxnSpPr/>
          <p:nvPr/>
        </p:nvCxnSpPr>
        <p:spPr>
          <a:xfrm>
            <a:off x="1552904" y="2328041"/>
            <a:ext cx="1127234" cy="109307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winkelter Verbinder 5"/>
          <p:cNvCxnSpPr/>
          <p:nvPr/>
        </p:nvCxnSpPr>
        <p:spPr>
          <a:xfrm>
            <a:off x="4225158" y="3421117"/>
            <a:ext cx="1127234" cy="109307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15" y="1624751"/>
            <a:ext cx="1392770" cy="140657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175" y="2458734"/>
            <a:ext cx="1189855" cy="1351543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24" y="5298505"/>
            <a:ext cx="1185504" cy="1197495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4324" y="3972910"/>
            <a:ext cx="1187217" cy="1171799"/>
          </a:xfrm>
          <a:prstGeom prst="rect">
            <a:avLst/>
          </a:prstGeom>
        </p:spPr>
      </p:pic>
      <p:sp>
        <p:nvSpPr>
          <p:cNvPr id="11" name="Rechteck 10"/>
          <p:cNvSpPr/>
          <p:nvPr/>
        </p:nvSpPr>
        <p:spPr>
          <a:xfrm>
            <a:off x="8024646" y="3578145"/>
            <a:ext cx="1545020" cy="101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do </a:t>
            </a:r>
            <a:r>
              <a:rPr lang="de-DE" dirty="0" err="1"/>
              <a:t>something</a:t>
            </a:r>
            <a:endParaRPr lang="en-CA" dirty="0"/>
          </a:p>
        </p:txBody>
      </p:sp>
      <p:cxnSp>
        <p:nvCxnSpPr>
          <p:cNvPr id="12" name="Gewinkelter Verbinder 11"/>
          <p:cNvCxnSpPr/>
          <p:nvPr/>
        </p:nvCxnSpPr>
        <p:spPr>
          <a:xfrm>
            <a:off x="6897412" y="2994821"/>
            <a:ext cx="1127234" cy="109307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winkelter Verbinder 12"/>
          <p:cNvCxnSpPr/>
          <p:nvPr/>
        </p:nvCxnSpPr>
        <p:spPr>
          <a:xfrm>
            <a:off x="9569666" y="4087897"/>
            <a:ext cx="1127234" cy="109307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8024646" y="5107401"/>
            <a:ext cx="1545020" cy="101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do </a:t>
            </a:r>
            <a:r>
              <a:rPr lang="de-DE" dirty="0" err="1"/>
              <a:t>something</a:t>
            </a:r>
            <a:endParaRPr lang="de-DE" dirty="0"/>
          </a:p>
          <a:p>
            <a:pPr algn="ctr"/>
            <a:r>
              <a:rPr lang="de-DE" dirty="0" err="1"/>
              <a:t>else</a:t>
            </a:r>
            <a:endParaRPr lang="en-CA" dirty="0"/>
          </a:p>
        </p:txBody>
      </p:sp>
      <p:cxnSp>
        <p:nvCxnSpPr>
          <p:cNvPr id="15" name="Gewinkelter Verbinder 14"/>
          <p:cNvCxnSpPr/>
          <p:nvPr/>
        </p:nvCxnSpPr>
        <p:spPr>
          <a:xfrm>
            <a:off x="6897412" y="4524077"/>
            <a:ext cx="1127234" cy="109307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winkelter Verbinder 15"/>
          <p:cNvCxnSpPr/>
          <p:nvPr/>
        </p:nvCxnSpPr>
        <p:spPr>
          <a:xfrm>
            <a:off x="9569666" y="5617153"/>
            <a:ext cx="1127234" cy="109307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fik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0796775" y="5624862"/>
            <a:ext cx="1187217" cy="1171799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795455" y="4027806"/>
            <a:ext cx="1189855" cy="1351543"/>
          </a:xfrm>
          <a:prstGeom prst="rect">
            <a:avLst/>
          </a:prstGeom>
        </p:spPr>
      </p:pic>
      <p:cxnSp>
        <p:nvCxnSpPr>
          <p:cNvPr id="19" name="Gewinkelter Verbinder 18"/>
          <p:cNvCxnSpPr/>
          <p:nvPr/>
        </p:nvCxnSpPr>
        <p:spPr>
          <a:xfrm rot="16200000" flipV="1">
            <a:off x="10512346" y="2924179"/>
            <a:ext cx="1169280" cy="800171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 20"/>
          <p:cNvSpPr/>
          <p:nvPr/>
        </p:nvSpPr>
        <p:spPr>
          <a:xfrm>
            <a:off x="9722067" y="1630624"/>
            <a:ext cx="1545020" cy="101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do </a:t>
            </a:r>
            <a:r>
              <a:rPr lang="de-DE" dirty="0" err="1"/>
              <a:t>something</a:t>
            </a:r>
            <a:endParaRPr lang="de-DE" dirty="0"/>
          </a:p>
          <a:p>
            <a:pPr algn="ctr"/>
            <a:r>
              <a:rPr lang="de-DE" dirty="0" err="1"/>
              <a:t>else</a:t>
            </a:r>
            <a:endParaRPr lang="en-CA" dirty="0"/>
          </a:p>
        </p:txBody>
      </p:sp>
      <p:cxnSp>
        <p:nvCxnSpPr>
          <p:cNvPr id="22" name="Gewinkelter Verbinder 21"/>
          <p:cNvCxnSpPr/>
          <p:nvPr/>
        </p:nvCxnSpPr>
        <p:spPr>
          <a:xfrm rot="10800000">
            <a:off x="8553555" y="1057961"/>
            <a:ext cx="1168512" cy="1078680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191341" y="435400"/>
            <a:ext cx="1189855" cy="135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61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CD62BB-4CFF-9646-0BFE-B53858FE5127}"/>
              </a:ext>
            </a:extLst>
          </p:cNvPr>
          <p:cNvSpPr txBox="1"/>
          <p:nvPr/>
        </p:nvSpPr>
        <p:spPr>
          <a:xfrm>
            <a:off x="589394" y="184101"/>
            <a:ext cx="4006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conditional loops</a:t>
            </a:r>
            <a:endParaRPr lang="en-DE" sz="36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80373F-F7D3-DCF1-5EAF-E11AF6E509AB}"/>
              </a:ext>
            </a:extLst>
          </p:cNvPr>
          <p:cNvSpPr txBox="1"/>
          <p:nvPr/>
        </p:nvSpPr>
        <p:spPr>
          <a:xfrm>
            <a:off x="508592" y="2743640"/>
            <a:ext cx="8058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de-DE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- then</a:t>
            </a:r>
            <a:r>
              <a:rPr lang="de-DE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else- </a:t>
            </a: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statements</a:t>
            </a:r>
            <a:endParaRPr lang="en-DE" sz="36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E229D0-4226-2937-0F49-3DBB8FBE6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892" y="806707"/>
            <a:ext cx="3083519" cy="1779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B22F5-2460-F79B-35FD-B0B046768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071" y="3385378"/>
            <a:ext cx="3151858" cy="34726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14603E-FCD6-F774-0BA6-84D755F58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94" y="1251593"/>
            <a:ext cx="5353974" cy="133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6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252</Words>
  <Application>Microsoft Office PowerPoint</Application>
  <PresentationFormat>Widescreen</PresentationFormat>
  <Paragraphs>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-apple-system</vt:lpstr>
      <vt:lpstr>Arial</vt:lpstr>
      <vt:lpstr>Calibri</vt:lpstr>
      <vt:lpstr>Calibri Light</vt:lpstr>
      <vt:lpstr>Lucida Console</vt:lpstr>
      <vt:lpstr>Nunito Sans</vt:lpstr>
      <vt:lpstr>Roboto</vt:lpstr>
      <vt:lpstr>Office</vt:lpstr>
      <vt:lpstr>displaying &amp; automatically analysing images</vt:lpstr>
      <vt:lpstr>PowerPoint Presentation</vt:lpstr>
      <vt:lpstr>pixel image (gray scale)</vt:lpstr>
      <vt:lpstr>contrast</vt:lpstr>
      <vt:lpstr>PowerPoint Presentation</vt:lpstr>
      <vt:lpstr>Recap:</vt:lpstr>
      <vt:lpstr>PowerPoint Presentation</vt:lpstr>
      <vt:lpstr>PowerPoint Presentation</vt:lpstr>
      <vt:lpstr>auutomated image analysis</vt:lpstr>
      <vt:lpstr>1) segmentation: make a binary image</vt:lpstr>
      <vt:lpstr>2) quantitative analysis</vt:lpstr>
      <vt:lpstr>1) segmentation: preprocessing</vt:lpstr>
      <vt:lpstr>filters, e.g. gaussian</vt:lpstr>
      <vt:lpstr>filters  results</vt:lpstr>
      <vt:lpstr>automated analysis (Random Forest)</vt:lpstr>
      <vt:lpstr>decision trees</vt:lpstr>
      <vt:lpstr>functions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Filip Liebsch</dc:creator>
  <cp:lastModifiedBy>Filip Liebsch</cp:lastModifiedBy>
  <cp:revision>88</cp:revision>
  <dcterms:created xsi:type="dcterms:W3CDTF">2020-09-13T12:15:16Z</dcterms:created>
  <dcterms:modified xsi:type="dcterms:W3CDTF">2026-05-13T07:13:38Z</dcterms:modified>
</cp:coreProperties>
</file>